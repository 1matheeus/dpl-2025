
<file path=[Content_Types].xml><?xml version="1.0" encoding="utf-8"?>
<Types xmlns="http://schemas.openxmlformats.org/package/2006/content-types"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385" r:id="rId5"/>
    <p:sldId id="432" r:id="rId6"/>
    <p:sldId id="433" r:id="rId7"/>
    <p:sldId id="434" r:id="rId8"/>
    <p:sldId id="426" r:id="rId9"/>
    <p:sldId id="427" r:id="rId10"/>
    <p:sldId id="429" r:id="rId11"/>
    <p:sldId id="428" r:id="rId12"/>
    <p:sldId id="411" r:id="rId13"/>
    <p:sldId id="412" r:id="rId14"/>
    <p:sldId id="416" r:id="rId15"/>
    <p:sldId id="435" r:id="rId16"/>
    <p:sldId id="436" r:id="rId17"/>
    <p:sldId id="437" r:id="rId18"/>
    <p:sldId id="430" r:id="rId19"/>
    <p:sldId id="431" r:id="rId20"/>
  </p:sldIdLst>
  <p:sldSz cx="13004800" cy="9753600"/>
  <p:notesSz cx="6858000" cy="9144000"/>
  <p:embeddedFontLst>
    <p:embeddedFont>
      <p:font typeface="Helvetica Neue" panose="020B0604020202020204"/>
      <p:regular r:id="rId24"/>
    </p:embeddedFont>
    <p:embeddedFont>
      <p:font typeface="Helvetica Neue Light" panose="020B0604020202020204"/>
      <p:regular r:id="rId25"/>
    </p:embeddedFont>
    <p:embeddedFont>
      <p:font typeface="Bahnschrift Light" panose="020B0502040204020203" charset="0"/>
      <p:regular r:id="rId26"/>
    </p:embeddedFont>
    <p:embeddedFont>
      <p:font typeface="Oswald Regular"/>
      <p:regular r:id="rId27"/>
      <p:bold r:id="rId28"/>
    </p:embeddedFont>
    <p:embeddedFont>
      <p:font typeface="Bahnschrift" panose="020B0502040204020203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BD5427FF-4EB1-4006-BF7F-42158E0C512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Console App</a:t>
          </a:r>
          <a:r>
            <a:rPr lang="en-US"/>
            <a:t/>
          </a:r>
          <a:endParaRPr lang="en-US"/>
        </a:p>
      </dgm:t>
    </dgm:pt>
    <dgm:pt modelId="{A2F6D805-3B53-408A-A2A3-20BC3BF0D242}" cxnId="{26A47479-815D-48C1-AB8F-27675B09E331}" type="parTrans">
      <dgm:prSet/>
      <dgm:spPr/>
      <dgm:t>
        <a:bodyPr/>
        <a:p>
          <a:endParaRPr lang="en-US"/>
        </a:p>
      </dgm:t>
    </dgm:pt>
    <dgm:pt modelId="{D47F9812-1256-4E44-A6BE-BEC559BE8FF3}" cxnId="{26A47479-815D-48C1-AB8F-27675B09E331}" type="sibTrans">
      <dgm:prSet/>
      <dgm:spPr/>
      <dgm:t>
        <a:bodyPr/>
        <a:p>
          <a:endParaRPr lang="en-US"/>
        </a:p>
      </dgm:t>
    </dgm:pt>
    <dgm:pt modelId="{3A7B819B-DBE9-4610-B22A-5573EA6D532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Aplicação textual</a:t>
          </a:r>
          <a:r>
            <a:rPr lang="en-US"/>
            <a:t/>
          </a:r>
          <a:endParaRPr lang="en-US"/>
        </a:p>
      </dgm:t>
    </dgm:pt>
    <dgm:pt modelId="{DC4BEA23-BF6E-42AD-9BF0-CFBDE86A80F1}" cxnId="{38C19005-8208-45B4-929A-E101B77C4038}" type="parTrans">
      <dgm:prSet/>
      <dgm:spPr/>
      <dgm:t>
        <a:bodyPr/>
        <a:p>
          <a:endParaRPr lang="en-US"/>
        </a:p>
      </dgm:t>
    </dgm:pt>
    <dgm:pt modelId="{0BF6ACD3-AE1A-4691-8CBE-DBE77AB8A685}" cxnId="{38C19005-8208-45B4-929A-E101B77C4038}" type="sibTrans">
      <dgm:prSet/>
      <dgm:spPr/>
      <dgm:t>
        <a:bodyPr/>
        <a:p>
          <a:endParaRPr lang="en-US"/>
        </a:p>
      </dgm:t>
    </dgm:pt>
    <dgm:pt modelId="{B22068DA-3CBD-41CD-AD24-A5850A366847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POO</a:t>
          </a:r>
          <a:r>
            <a:rPr lang="en-US"/>
            <a:t/>
          </a:r>
          <a:endParaRPr lang="en-US"/>
        </a:p>
      </dgm:t>
    </dgm:pt>
    <dgm:pt modelId="{F00CE662-83B6-4C21-98B4-65E84DCE54FF}" cxnId="{57045C37-C822-4F7D-B5C4-433105474C6A}" type="parTrans">
      <dgm:prSet/>
      <dgm:spPr/>
    </dgm:pt>
    <dgm:pt modelId="{AAF80EE3-9924-4661-A52E-CE769E772F73}" cxnId="{57045C37-C822-4F7D-B5C4-433105474C6A}" type="sibTrans">
      <dgm:prSet/>
      <dgm:spPr/>
    </dgm:pt>
    <dgm:pt modelId="{FE969E54-0D5D-4815-BDC4-3309E2F7325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Forms App</a:t>
          </a:r>
          <a:r>
            <a:rPr lang="en-US"/>
            <a:t/>
          </a:r>
          <a:endParaRPr lang="en-US"/>
        </a:p>
      </dgm:t>
    </dgm:pt>
    <dgm:pt modelId="{B5D9FB86-EEBE-488F-B7DE-B7CF5C9166C5}" cxnId="{10B699FF-F565-4A7B-B534-130E6C64B532}" type="parTrans">
      <dgm:prSet/>
      <dgm:spPr/>
      <dgm:t>
        <a:bodyPr/>
        <a:p>
          <a:endParaRPr lang="en-US"/>
        </a:p>
      </dgm:t>
    </dgm:pt>
    <dgm:pt modelId="{D7D19B67-C01A-45D3-B5C7-B7E1B18A9F62}" cxnId="{10B699FF-F565-4A7B-B534-130E6C64B532}" type="sibTrans">
      <dgm:prSet/>
      <dgm:spPr/>
      <dgm:t>
        <a:bodyPr/>
        <a:p>
          <a:endParaRPr lang="en-US"/>
        </a:p>
      </dgm:t>
    </dgm:pt>
    <dgm:pt modelId="{35600F67-42C2-4D1B-B072-DC2A36FCB13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Aplicação gráfica</a:t>
          </a:r>
          <a:r>
            <a:rPr lang="en-US"/>
            <a:t/>
          </a:r>
          <a:endParaRPr lang="en-US"/>
        </a:p>
      </dgm:t>
    </dgm:pt>
    <dgm:pt modelId="{B4BC79E1-FDBA-43D1-A988-1BE8090EDA7A}" cxnId="{8DBF1125-5F5F-4633-8F0A-8DC6231D871F}" type="parTrans">
      <dgm:prSet/>
      <dgm:spPr/>
      <dgm:t>
        <a:bodyPr/>
        <a:p>
          <a:endParaRPr lang="en-US"/>
        </a:p>
      </dgm:t>
    </dgm:pt>
    <dgm:pt modelId="{AD46A0AA-C45A-46D2-89AF-28390F99F9D0}" cxnId="{8DBF1125-5F5F-4633-8F0A-8DC6231D871F}" type="sibTrans">
      <dgm:prSet/>
      <dgm:spPr/>
      <dgm:t>
        <a:bodyPr/>
        <a:p>
          <a:endParaRPr lang="en-US"/>
        </a:p>
      </dgm:t>
    </dgm:pt>
    <dgm:pt modelId="{166A9973-230C-4DAF-975F-A3DA916E287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POO</a:t>
          </a:r>
          <a:r>
            <a:rPr lang="en-US"/>
            <a:t/>
          </a:r>
          <a:endParaRPr lang="en-US"/>
        </a:p>
      </dgm:t>
    </dgm:pt>
    <dgm:pt modelId="{661D232E-E01F-47A7-A711-D70B3BECA451}" cxnId="{321DB110-6AC7-4668-8156-F4927D8F013D}" type="parTrans">
      <dgm:prSet/>
      <dgm:spPr/>
    </dgm:pt>
    <dgm:pt modelId="{ECAE5F5E-7FA1-4C3A-BD80-06113A0D5CFD}" cxnId="{321DB110-6AC7-4668-8156-F4927D8F013D}" type="sibTrans">
      <dgm:prSet/>
      <dgm:spPr/>
    </dgm:pt>
    <dgm:pt modelId="{61F0DC84-7FFF-4FDD-9B5D-40960093AE8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Unity</a:t>
          </a:r>
          <a:r>
            <a:rPr lang="en-US"/>
            <a:t/>
          </a:r>
          <a:endParaRPr lang="en-US"/>
        </a:p>
      </dgm:t>
    </dgm:pt>
    <dgm:pt modelId="{2CB3CEFC-83E6-4DB9-B636-5287ACC11553}" cxnId="{A36A6977-4E0A-46BA-A786-93F12BED2C44}" type="parTrans">
      <dgm:prSet/>
      <dgm:spPr/>
      <dgm:t>
        <a:bodyPr/>
        <a:p>
          <a:endParaRPr lang="en-US"/>
        </a:p>
      </dgm:t>
    </dgm:pt>
    <dgm:pt modelId="{1FAE29ED-22A2-40FA-904A-0706E8542FE7}" cxnId="{A36A6977-4E0A-46BA-A786-93F12BED2C44}" type="sibTrans">
      <dgm:prSet/>
      <dgm:spPr/>
      <dgm:t>
        <a:bodyPr/>
        <a:p>
          <a:endParaRPr lang="en-US"/>
        </a:p>
      </dgm:t>
    </dgm:pt>
    <dgm:pt modelId="{2C0D9F89-7CE9-4195-96AC-FB27D6AA2EF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Scripts</a:t>
          </a:r>
          <a:r>
            <a:rPr lang="en-US"/>
            <a:t/>
          </a:r>
          <a:endParaRPr lang="en-US"/>
        </a:p>
      </dgm:t>
    </dgm:pt>
    <dgm:pt modelId="{24D9371C-2787-474E-A690-5A09190A9707}" cxnId="{A3E715F6-5AEF-4F42-9101-90F37F2E626A}" type="parTrans">
      <dgm:prSet/>
      <dgm:spPr/>
      <dgm:t>
        <a:bodyPr/>
        <a:p>
          <a:endParaRPr lang="en-US"/>
        </a:p>
      </dgm:t>
    </dgm:pt>
    <dgm:pt modelId="{39E6AF7E-E529-4319-B552-AB363EF4CE26}" cxnId="{A3E715F6-5AEF-4F42-9101-90F37F2E626A}" type="sibTrans">
      <dgm:prSet/>
      <dgm:spPr/>
      <dgm:t>
        <a:bodyPr/>
        <a:p>
          <a:endParaRPr lang="en-US"/>
        </a:p>
      </dgm:t>
    </dgm:pt>
    <dgm:pt modelId="{74F402BC-C019-499A-92EA-15DADFF3D5E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/>
            <a:t>POO</a:t>
          </a:r>
          <a:endParaRPr lang="en-US"/>
        </a:p>
      </dgm:t>
    </dgm:pt>
    <dgm:pt modelId="{20DE3258-D8D8-474E-B54E-E39F20DAE78D}" cxnId="{AEE05AA0-AF4C-42BA-99D9-741B14380C23}" type="parTrans">
      <dgm:prSet/>
      <dgm:spPr/>
    </dgm:pt>
    <dgm:pt modelId="{61B3CC73-35E1-4AE1-8B54-78A008AC8738}" cxnId="{AEE05AA0-AF4C-42BA-99D9-741B14380C23}" type="sibTrans">
      <dgm:prSet/>
      <dgm:spPr/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3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1" presStyleCnt="3">
        <dgm:presLayoutVars>
          <dgm:bulletEnabled val="1"/>
        </dgm:presLayoutVars>
      </dgm:prSet>
      <dgm:spPr/>
    </dgm:pt>
    <dgm:pt modelId="{F4639A07-76C8-4329-80D5-712628979A9A}" type="pres">
      <dgm:prSet presAssocID="{D7D19B67-C01A-45D3-B5C7-B7E1B18A9F62}" presName="space" presStyleCnt="0"/>
      <dgm:spPr/>
    </dgm:pt>
    <dgm:pt modelId="{7F710124-E259-48A5-9895-471DE20AF50E}" type="pres">
      <dgm:prSet presAssocID="{61F0DC84-7FFF-4FDD-9B5D-40960093AE83}" presName="composite" presStyleCnt="0"/>
      <dgm:spPr/>
    </dgm:pt>
    <dgm:pt modelId="{FC453BFD-315B-4968-86FA-B7D3125F3320}" type="pres">
      <dgm:prSet presAssocID="{61F0DC84-7FFF-4FDD-9B5D-40960093AE8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357C82A-FE93-416B-AFBF-A74F9E99C4E4}" type="pres">
      <dgm:prSet presAssocID="{61F0DC84-7FFF-4FDD-9B5D-40960093AE8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6A47479-815D-48C1-AB8F-27675B09E331}" srcId="{468FBB7B-694A-47BF-865D-2F44C1051453}" destId="{BD5427FF-4EB1-4006-BF7F-42158E0C5129}" srcOrd="0" destOrd="0" parTransId="{A2F6D805-3B53-408A-A2A3-20BC3BF0D242}" sibTransId="{D47F9812-1256-4E44-A6BE-BEC559BE8FF3}"/>
    <dgm:cxn modelId="{38C19005-8208-45B4-929A-E101B77C4038}" srcId="{BD5427FF-4EB1-4006-BF7F-42158E0C5129}" destId="{3A7B819B-DBE9-4610-B22A-5573EA6D532D}" srcOrd="0" destOrd="0" parTransId="{DC4BEA23-BF6E-42AD-9BF0-CFBDE86A80F1}" sibTransId="{0BF6ACD3-AE1A-4691-8CBE-DBE77AB8A685}"/>
    <dgm:cxn modelId="{57045C37-C822-4F7D-B5C4-433105474C6A}" srcId="{BD5427FF-4EB1-4006-BF7F-42158E0C5129}" destId="{B22068DA-3CBD-41CD-AD24-A5850A366847}" srcOrd="1" destOrd="0" parTransId="{F00CE662-83B6-4C21-98B4-65E84DCE54FF}" sibTransId="{AAF80EE3-9924-4661-A52E-CE769E772F73}"/>
    <dgm:cxn modelId="{10B699FF-F565-4A7B-B534-130E6C64B532}" srcId="{468FBB7B-694A-47BF-865D-2F44C1051453}" destId="{FE969E54-0D5D-4815-BDC4-3309E2F7325D}" srcOrd="1" destOrd="0" parTransId="{B5D9FB86-EEBE-488F-B7DE-B7CF5C9166C5}" sibTransId="{D7D19B67-C01A-45D3-B5C7-B7E1B18A9F62}"/>
    <dgm:cxn modelId="{8DBF1125-5F5F-4633-8F0A-8DC6231D871F}" srcId="{FE969E54-0D5D-4815-BDC4-3309E2F7325D}" destId="{35600F67-42C2-4D1B-B072-DC2A36FCB136}" srcOrd="0" destOrd="1" parTransId="{B4BC79E1-FDBA-43D1-A988-1BE8090EDA7A}" sibTransId="{AD46A0AA-C45A-46D2-89AF-28390F99F9D0}"/>
    <dgm:cxn modelId="{321DB110-6AC7-4668-8156-F4927D8F013D}" srcId="{FE969E54-0D5D-4815-BDC4-3309E2F7325D}" destId="{166A9973-230C-4DAF-975F-A3DA916E2879}" srcOrd="1" destOrd="1" parTransId="{661D232E-E01F-47A7-A711-D70B3BECA451}" sibTransId="{ECAE5F5E-7FA1-4C3A-BD80-06113A0D5CFD}"/>
    <dgm:cxn modelId="{A36A6977-4E0A-46BA-A786-93F12BED2C44}" srcId="{468FBB7B-694A-47BF-865D-2F44C1051453}" destId="{61F0DC84-7FFF-4FDD-9B5D-40960093AE83}" srcOrd="2" destOrd="0" parTransId="{2CB3CEFC-83E6-4DB9-B636-5287ACC11553}" sibTransId="{1FAE29ED-22A2-40FA-904A-0706E8542FE7}"/>
    <dgm:cxn modelId="{A3E715F6-5AEF-4F42-9101-90F37F2E626A}" srcId="{61F0DC84-7FFF-4FDD-9B5D-40960093AE83}" destId="{2C0D9F89-7CE9-4195-96AC-FB27D6AA2EF6}" srcOrd="0" destOrd="2" parTransId="{24D9371C-2787-474E-A690-5A09190A9707}" sibTransId="{39E6AF7E-E529-4319-B552-AB363EF4CE26}"/>
    <dgm:cxn modelId="{AEE05AA0-AF4C-42BA-99D9-741B14380C23}" srcId="{61F0DC84-7FFF-4FDD-9B5D-40960093AE83}" destId="{74F402BC-C019-499A-92EA-15DADFF3D5E3}" srcOrd="1" destOrd="2" parTransId="{20DE3258-D8D8-474E-B54E-E39F20DAE78D}" sibTransId="{61B3CC73-35E1-4AE1-8B54-78A008AC8738}"/>
    <dgm:cxn modelId="{3F15C219-0267-46F4-B655-FD1A82DD8418}" type="presOf" srcId="{468FBB7B-694A-47BF-865D-2F44C1051453}" destId="{D5FB6A06-3991-4223-AD64-C4F7F6F4DF69}" srcOrd="0" destOrd="0" presId="urn:microsoft.com/office/officeart/2005/8/layout/hList1"/>
    <dgm:cxn modelId="{25C6826A-34B5-4986-884A-DDBA39C45D60}" type="presParOf" srcId="{D5FB6A06-3991-4223-AD64-C4F7F6F4DF69}" destId="{5EB24CCF-928A-4018-A934-89F31F564A83}" srcOrd="0" destOrd="0" presId="urn:microsoft.com/office/officeart/2005/8/layout/hList1"/>
    <dgm:cxn modelId="{A79509BF-BE30-4F92-AFD3-1108474DD683}" type="presParOf" srcId="{5EB24CCF-928A-4018-A934-89F31F564A83}" destId="{5D9704F8-5A95-419F-B794-1E2F82666BDB}" srcOrd="0" destOrd="0" presId="urn:microsoft.com/office/officeart/2005/8/layout/hList1"/>
    <dgm:cxn modelId="{CD1BD934-03D7-4E2C-A0BD-6FE143F1C20A}" type="presOf" srcId="{BD5427FF-4EB1-4006-BF7F-42158E0C5129}" destId="{5D9704F8-5A95-419F-B794-1E2F82666BDB}" srcOrd="0" destOrd="0" presId="urn:microsoft.com/office/officeart/2005/8/layout/hList1"/>
    <dgm:cxn modelId="{B1689923-6A86-45EC-BCC5-262D189A582E}" type="presParOf" srcId="{5EB24CCF-928A-4018-A934-89F31F564A83}" destId="{C0A6D3D8-DBC2-45B6-8DEF-789A72552BB4}" srcOrd="1" destOrd="0" presId="urn:microsoft.com/office/officeart/2005/8/layout/hList1"/>
    <dgm:cxn modelId="{498213B3-901D-47E7-9EE5-B9F63C019159}" type="presOf" srcId="{3A7B819B-DBE9-4610-B22A-5573EA6D532D}" destId="{C0A6D3D8-DBC2-45B6-8DEF-789A72552BB4}" srcOrd="0" destOrd="0" presId="urn:microsoft.com/office/officeart/2005/8/layout/hList1"/>
    <dgm:cxn modelId="{0E37C161-5AF1-4DA3-A460-91E68FB4BA2A}" type="presOf" srcId="{B22068DA-3CBD-41CD-AD24-A5850A366847}" destId="{C0A6D3D8-DBC2-45B6-8DEF-789A72552BB4}" srcOrd="0" destOrd="1" presId="urn:microsoft.com/office/officeart/2005/8/layout/hList1"/>
    <dgm:cxn modelId="{E85D9702-5611-4959-B739-0A252D4B6738}" type="presParOf" srcId="{D5FB6A06-3991-4223-AD64-C4F7F6F4DF69}" destId="{C4F6D2AE-A2A5-43DC-B705-8E8ECE0E1613}" srcOrd="1" destOrd="0" presId="urn:microsoft.com/office/officeart/2005/8/layout/hList1"/>
    <dgm:cxn modelId="{FEA1D55F-0B4B-4C02-91BD-F4DC2B02565E}" type="presParOf" srcId="{D5FB6A06-3991-4223-AD64-C4F7F6F4DF69}" destId="{C1832C44-4F6B-4ABA-88DC-7D5A80779E4B}" srcOrd="2" destOrd="0" presId="urn:microsoft.com/office/officeart/2005/8/layout/hList1"/>
    <dgm:cxn modelId="{C10DC022-0773-4457-B545-7BAA6BA33791}" type="presParOf" srcId="{C1832C44-4F6B-4ABA-88DC-7D5A80779E4B}" destId="{3E0BA246-3456-471B-AD87-1436FD251DD8}" srcOrd="0" destOrd="2" presId="urn:microsoft.com/office/officeart/2005/8/layout/hList1"/>
    <dgm:cxn modelId="{99727C95-DC11-40B4-9B0A-467A27C21004}" type="presOf" srcId="{FE969E54-0D5D-4815-BDC4-3309E2F7325D}" destId="{3E0BA246-3456-471B-AD87-1436FD251DD8}" srcOrd="0" destOrd="0" presId="urn:microsoft.com/office/officeart/2005/8/layout/hList1"/>
    <dgm:cxn modelId="{0BC4B556-A7E5-41F5-A388-A2D8498F441A}" type="presParOf" srcId="{C1832C44-4F6B-4ABA-88DC-7D5A80779E4B}" destId="{33CF15AD-8A19-4E9A-9BED-239A79CAF737}" srcOrd="1" destOrd="2" presId="urn:microsoft.com/office/officeart/2005/8/layout/hList1"/>
    <dgm:cxn modelId="{74592D77-4071-4907-8AB1-85A923AEF21D}" type="presOf" srcId="{35600F67-42C2-4D1B-B072-DC2A36FCB136}" destId="{33CF15AD-8A19-4E9A-9BED-239A79CAF737}" srcOrd="0" destOrd="0" presId="urn:microsoft.com/office/officeart/2005/8/layout/hList1"/>
    <dgm:cxn modelId="{E802CC8C-12FA-48E0-9A89-F8032AF7E6E3}" type="presOf" srcId="{166A9973-230C-4DAF-975F-A3DA916E2879}" destId="{33CF15AD-8A19-4E9A-9BED-239A79CAF737}" srcOrd="0" destOrd="1" presId="urn:microsoft.com/office/officeart/2005/8/layout/hList1"/>
    <dgm:cxn modelId="{90C12F48-E295-489A-A774-223DF6C7875E}" type="presParOf" srcId="{D5FB6A06-3991-4223-AD64-C4F7F6F4DF69}" destId="{F4639A07-76C8-4329-80D5-712628979A9A}" srcOrd="3" destOrd="0" presId="urn:microsoft.com/office/officeart/2005/8/layout/hList1"/>
    <dgm:cxn modelId="{0F905F9A-099B-4CBA-9FC1-690D226A50AB}" type="presParOf" srcId="{D5FB6A06-3991-4223-AD64-C4F7F6F4DF69}" destId="{7F710124-E259-48A5-9895-471DE20AF50E}" srcOrd="4" destOrd="0" presId="urn:microsoft.com/office/officeart/2005/8/layout/hList1"/>
    <dgm:cxn modelId="{163F373F-DC6D-4402-8E94-F7F72EF19BBA}" type="presParOf" srcId="{7F710124-E259-48A5-9895-471DE20AF50E}" destId="{FC453BFD-315B-4968-86FA-B7D3125F3320}" srcOrd="0" destOrd="4" presId="urn:microsoft.com/office/officeart/2005/8/layout/hList1"/>
    <dgm:cxn modelId="{825ADEA4-4FC9-4A78-92B0-BD0B372B5372}" type="presOf" srcId="{61F0DC84-7FFF-4FDD-9B5D-40960093AE83}" destId="{FC453BFD-315B-4968-86FA-B7D3125F3320}" srcOrd="0" destOrd="0" presId="urn:microsoft.com/office/officeart/2005/8/layout/hList1"/>
    <dgm:cxn modelId="{8294CF5A-E9CD-4616-AC7B-224E64685E7B}" type="presParOf" srcId="{7F710124-E259-48A5-9895-471DE20AF50E}" destId="{B357C82A-FE93-416B-AFBF-A74F9E99C4E4}" srcOrd="1" destOrd="4" presId="urn:microsoft.com/office/officeart/2005/8/layout/hList1"/>
    <dgm:cxn modelId="{DD04FF3B-BCF7-4EFC-B147-18A7A05D590B}" type="presOf" srcId="{2C0D9F89-7CE9-4195-96AC-FB27D6AA2EF6}" destId="{B357C82A-FE93-416B-AFBF-A74F9E99C4E4}" srcOrd="0" destOrd="0" presId="urn:microsoft.com/office/officeart/2005/8/layout/hList1"/>
    <dgm:cxn modelId="{73C22BA4-F8E2-4DFF-917A-7D70CA9AE877}" type="presOf" srcId="{74F402BC-C019-499A-92EA-15DADFF3D5E3}" destId="{B357C82A-FE93-416B-AFBF-A74F9E99C4E4}" srcOrd="0" destOrd="1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5D9704F8-5A95-419F-B794-1E2F82666BDB}">
      <dsp:nvSpPr>
        <dsp:cNvPr id="3" name="Rectangles 2"/>
        <dsp:cNvSpPr/>
      </dsp:nvSpPr>
      <dsp:spPr bwMode="white">
        <a:xfrm>
          <a:off x="0" y="1443697"/>
          <a:ext cx="2478049" cy="8064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Console App</a:t>
          </a:r>
          <a:endParaRPr lang="en-US"/>
        </a:p>
      </dsp:txBody>
      <dsp:txXfrm>
        <a:off x="0" y="1443697"/>
        <a:ext cx="2478049" cy="806400"/>
      </dsp:txXfrm>
    </dsp:sp>
    <dsp:sp modelId="{C0A6D3D8-DBC2-45B6-8DEF-789A72552BB4}">
      <dsp:nvSpPr>
        <dsp:cNvPr id="4" name="Rectangles 3"/>
        <dsp:cNvSpPr/>
      </dsp:nvSpPr>
      <dsp:spPr bwMode="white">
        <a:xfrm>
          <a:off x="0" y="2250098"/>
          <a:ext cx="2478049" cy="172466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49352" tIns="149352" rIns="199136" bIns="224028" anchor="t"/>
        <a:lstStyle>
          <a:lvl1pPr algn="l">
            <a:defRPr sz="2800"/>
          </a:lvl1pPr>
          <a:lvl2pPr marL="285750" indent="-285750" algn="l">
            <a:defRPr sz="2800"/>
          </a:lvl2pPr>
          <a:lvl3pPr marL="571500" indent="-285750" algn="l">
            <a:defRPr sz="2800"/>
          </a:lvl3pPr>
          <a:lvl4pPr marL="857250" indent="-285750" algn="l">
            <a:defRPr sz="2800"/>
          </a:lvl4pPr>
          <a:lvl5pPr marL="1143000" indent="-285750" algn="l">
            <a:defRPr sz="2800"/>
          </a:lvl5pPr>
          <a:lvl6pPr marL="1428750" indent="-285750" algn="l">
            <a:defRPr sz="2800"/>
          </a:lvl6pPr>
          <a:lvl7pPr marL="1714500" indent="-285750" algn="l">
            <a:defRPr sz="2800"/>
          </a:lvl7pPr>
          <a:lvl8pPr marL="2000250" indent="-285750" algn="l">
            <a:defRPr sz="2800"/>
          </a:lvl8pPr>
          <a:lvl9pPr marL="2286000" indent="-285750" algn="l">
            <a:defRPr sz="2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Aplicação textual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POO</a:t>
          </a:r>
          <a:endParaRPr lang="en-US">
            <a:solidFill>
              <a:schemeClr val="dk1"/>
            </a:solidFill>
          </a:endParaRPr>
        </a:p>
      </dsp:txBody>
      <dsp:txXfrm>
        <a:off x="0" y="2250098"/>
        <a:ext cx="2478049" cy="1724660"/>
      </dsp:txXfrm>
    </dsp:sp>
    <dsp:sp modelId="{3E0BA246-3456-471B-AD87-1436FD251DD8}">
      <dsp:nvSpPr>
        <dsp:cNvPr id="5" name="Rectangles 4"/>
        <dsp:cNvSpPr/>
      </dsp:nvSpPr>
      <dsp:spPr bwMode="white">
        <a:xfrm>
          <a:off x="2824976" y="1443697"/>
          <a:ext cx="2478049" cy="8064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/>
            <a:t>Forms App</a:t>
          </a:r>
          <a:endParaRPr lang="en-US"/>
        </a:p>
      </dsp:txBody>
      <dsp:txXfrm>
        <a:off x="2824976" y="1443697"/>
        <a:ext cx="2478049" cy="806400"/>
      </dsp:txXfrm>
    </dsp:sp>
    <dsp:sp modelId="{33CF15AD-8A19-4E9A-9BED-239A79CAF737}">
      <dsp:nvSpPr>
        <dsp:cNvPr id="6" name="Rectangles 5"/>
        <dsp:cNvSpPr/>
      </dsp:nvSpPr>
      <dsp:spPr bwMode="white">
        <a:xfrm>
          <a:off x="2824976" y="2250098"/>
          <a:ext cx="2478049" cy="172466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49352" tIns="149352" rIns="199136" bIns="224028" anchor="t"/>
        <a:lstStyle>
          <a:lvl1pPr algn="l">
            <a:defRPr sz="2800"/>
          </a:lvl1pPr>
          <a:lvl2pPr marL="285750" indent="-285750" algn="l">
            <a:defRPr sz="2800"/>
          </a:lvl2pPr>
          <a:lvl3pPr marL="571500" indent="-285750" algn="l">
            <a:defRPr sz="2800"/>
          </a:lvl3pPr>
          <a:lvl4pPr marL="857250" indent="-285750" algn="l">
            <a:defRPr sz="2800"/>
          </a:lvl4pPr>
          <a:lvl5pPr marL="1143000" indent="-285750" algn="l">
            <a:defRPr sz="2800"/>
          </a:lvl5pPr>
          <a:lvl6pPr marL="1428750" indent="-285750" algn="l">
            <a:defRPr sz="2800"/>
          </a:lvl6pPr>
          <a:lvl7pPr marL="1714500" indent="-285750" algn="l">
            <a:defRPr sz="2800"/>
          </a:lvl7pPr>
          <a:lvl8pPr marL="2000250" indent="-285750" algn="l">
            <a:defRPr sz="2800"/>
          </a:lvl8pPr>
          <a:lvl9pPr marL="2286000" indent="-285750" algn="l">
            <a:defRPr sz="2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Aplicação gráfica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POO</a:t>
          </a:r>
          <a:endParaRPr lang="en-US">
            <a:solidFill>
              <a:schemeClr val="dk1"/>
            </a:solidFill>
          </a:endParaRPr>
        </a:p>
      </dsp:txBody>
      <dsp:txXfrm>
        <a:off x="2824976" y="2250098"/>
        <a:ext cx="2478049" cy="1724660"/>
      </dsp:txXfrm>
    </dsp:sp>
    <dsp:sp modelId="{FC453BFD-315B-4968-86FA-B7D3125F3320}">
      <dsp:nvSpPr>
        <dsp:cNvPr id="7" name="Rectangles 6"/>
        <dsp:cNvSpPr/>
      </dsp:nvSpPr>
      <dsp:spPr bwMode="white">
        <a:xfrm>
          <a:off x="5649951" y="1443697"/>
          <a:ext cx="2478049" cy="8064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Unity</a:t>
          </a:r>
          <a:endParaRPr lang="en-US"/>
        </a:p>
      </dsp:txBody>
      <dsp:txXfrm>
        <a:off x="5649951" y="1443697"/>
        <a:ext cx="2478049" cy="806400"/>
      </dsp:txXfrm>
    </dsp:sp>
    <dsp:sp modelId="{B357C82A-FE93-416B-AFBF-A74F9E99C4E4}">
      <dsp:nvSpPr>
        <dsp:cNvPr id="8" name="Rectangles 7"/>
        <dsp:cNvSpPr/>
      </dsp:nvSpPr>
      <dsp:spPr bwMode="white">
        <a:xfrm>
          <a:off x="5649951" y="2250098"/>
          <a:ext cx="2478049" cy="172466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49352" tIns="149352" rIns="199136" bIns="224028" anchor="t"/>
        <a:lstStyle>
          <a:lvl1pPr algn="l">
            <a:defRPr sz="2800"/>
          </a:lvl1pPr>
          <a:lvl2pPr marL="285750" indent="-285750" algn="l">
            <a:defRPr sz="2800"/>
          </a:lvl2pPr>
          <a:lvl3pPr marL="571500" indent="-285750" algn="l">
            <a:defRPr sz="2800"/>
          </a:lvl3pPr>
          <a:lvl4pPr marL="857250" indent="-285750" algn="l">
            <a:defRPr sz="2800"/>
          </a:lvl4pPr>
          <a:lvl5pPr marL="1143000" indent="-285750" algn="l">
            <a:defRPr sz="2800"/>
          </a:lvl5pPr>
          <a:lvl6pPr marL="1428750" indent="-285750" algn="l">
            <a:defRPr sz="2800"/>
          </a:lvl6pPr>
          <a:lvl7pPr marL="1714500" indent="-285750" algn="l">
            <a:defRPr sz="2800"/>
          </a:lvl7pPr>
          <a:lvl8pPr marL="2000250" indent="-285750" algn="l">
            <a:defRPr sz="2800"/>
          </a:lvl8pPr>
          <a:lvl9pPr marL="2286000" indent="-285750" algn="l">
            <a:defRPr sz="28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Scripts</a:t>
          </a:r>
          <a:endParaRPr 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>
              <a:solidFill>
                <a:schemeClr val="dk1"/>
              </a:solidFill>
            </a:rPr>
            <a:t>POO</a:t>
          </a:r>
          <a:endParaRPr lang="en-US">
            <a:solidFill>
              <a:schemeClr val="dk1"/>
            </a:solidFill>
          </a:endParaRPr>
        </a:p>
      </dsp:txBody>
      <dsp:txXfrm>
        <a:off x="5649951" y="2250098"/>
        <a:ext cx="2478049" cy="17246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marR="0" lvl="1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marR="0" lvl="2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marR="0" lvl="3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marR="0" lvl="4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marR="0" lvl="5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L="3200400" marR="0" lvl="6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L="3657600" marR="0" lvl="7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L="4114800" marR="0" lvl="8" indent="-22860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3" name="Google Shape;293;p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 txBox="1"/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&amp; Subtitle">
  <p:cSld name="TITLE_AND_BODY">
    <p:bg>
      <p:bgPr>
        <a:solidFill>
          <a:srgbClr val="222222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 rot="10800000" flipH="1">
            <a:off x="406400" y="6140894"/>
            <a:ext cx="12192000" cy="263"/>
          </a:xfrm>
          <a:prstGeom prst="straightConnector1">
            <a:avLst/>
          </a:prstGeom>
          <a:noFill/>
          <a:ln w="381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1" name="Google Shape;11;p2"/>
          <p:cNvSpPr txBox="1"/>
          <p:nvPr>
            <p:ph type="title"/>
          </p:nvPr>
        </p:nvSpPr>
        <p:spPr>
          <a:xfrm>
            <a:off x="406400" y="6426200"/>
            <a:ext cx="12192000" cy="27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4A5DA"/>
              </a:buClr>
              <a:buSzPts val="17000"/>
              <a:buFont typeface="Arial" panose="020B0604020202020204"/>
              <a:buNone/>
              <a:defRPr sz="17000" cap="none">
                <a:solidFill>
                  <a:srgbClr val="34A5D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type="body" idx="1"/>
          </p:nvPr>
        </p:nvSpPr>
        <p:spPr>
          <a:xfrm>
            <a:off x="406400" y="4267200"/>
            <a:ext cx="12192000" cy="1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ldNum" idx="1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600">
              <a:solidFill>
                <a:srgbClr val="FFFFFF"/>
              </a:solidFill>
              <a:latin typeface="Helvetica Neue Light" panose="020B0604020202020204"/>
              <a:ea typeface="Helvetica Neue Light" panose="020B0604020202020204"/>
              <a:cs typeface="Helvetica Neue Light" panose="020B0604020202020204"/>
              <a:sym typeface="Helvetica Neue Light" panose="020B0604020202020204"/>
            </a:endParaRPr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428829" y="254000"/>
            <a:ext cx="3221896" cy="215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bg>
      <p:bgPr>
        <a:solidFill>
          <a:srgbClr val="FFFFFF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 rot="10800000" flipH="1">
            <a:off x="406400" y="993160"/>
            <a:ext cx="12192000" cy="263"/>
          </a:xfrm>
          <a:prstGeom prst="straightConnector1">
            <a:avLst/>
          </a:prstGeom>
          <a:noFill/>
          <a:ln w="254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7" name="Google Shape;17;p3"/>
          <p:cNvSpPr txBox="1"/>
          <p:nvPr>
            <p:ph type="body" idx="1"/>
          </p:nvPr>
        </p:nvSpPr>
        <p:spPr>
          <a:xfrm>
            <a:off x="406400" y="45720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 cap="none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06400" y="1536700"/>
            <a:ext cx="12192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2800"/>
              </a:spcBef>
              <a:spcAft>
                <a:spcPts val="0"/>
              </a:spcAft>
              <a:buClr>
                <a:srgbClr val="34A5DA"/>
              </a:buClr>
              <a:buSzPts val="6000"/>
              <a:buFont typeface="Arial" panose="020B0604020202020204"/>
              <a:buNone/>
              <a:defRPr sz="6000" cap="none">
                <a:solidFill>
                  <a:srgbClr val="34A5D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ldNum" idx="12"/>
          </p:nvPr>
        </p:nvSpPr>
        <p:spPr>
          <a:xfrm>
            <a:off x="12186622" y="431800"/>
            <a:ext cx="40689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600">
              <a:solidFill>
                <a:srgbClr val="FFFFFF"/>
              </a:solidFill>
              <a:latin typeface="Helvetica Neue Light" panose="020B0604020202020204"/>
              <a:ea typeface="Helvetica Neue Light" panose="020B0604020202020204"/>
              <a:cs typeface="Helvetica Neue Light" panose="020B0604020202020204"/>
              <a:sym typeface="Helvetica Neue Light" panose="020B0604020202020204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700800" y="8901625"/>
            <a:ext cx="5603202" cy="8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bg>
      <p:bgPr>
        <a:solidFill>
          <a:srgbClr val="222222"/>
        </a:solidFill>
        <a:effectLst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 rot="10800000" flipH="1">
            <a:off x="5892800" y="6141012"/>
            <a:ext cx="6705600" cy="145"/>
          </a:xfrm>
          <a:prstGeom prst="straightConnector1">
            <a:avLst/>
          </a:prstGeom>
          <a:noFill/>
          <a:ln w="381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3" name="Google Shape;23;p4"/>
          <p:cNvSpPr/>
          <p:nvPr>
            <p:ph type="pic" idx="2"/>
          </p:nvPr>
        </p:nvSpPr>
        <p:spPr>
          <a:xfrm>
            <a:off x="0" y="0"/>
            <a:ext cx="5486400" cy="9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5892800" y="6426200"/>
            <a:ext cx="6705600" cy="27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4A5DA"/>
              </a:buClr>
              <a:buSzPts val="17000"/>
              <a:buFont typeface="Arial" panose="020B0604020202020204"/>
              <a:buNone/>
              <a:defRPr sz="17000" cap="none">
                <a:solidFill>
                  <a:srgbClr val="34A5D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body" idx="1"/>
          </p:nvPr>
        </p:nvSpPr>
        <p:spPr>
          <a:xfrm>
            <a:off x="5892800" y="4267200"/>
            <a:ext cx="6705600" cy="1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600">
              <a:solidFill>
                <a:srgbClr val="FFFFFF"/>
              </a:solidFill>
              <a:latin typeface="Helvetica Neue Light" panose="020B0604020202020204"/>
              <a:ea typeface="Helvetica Neue Light" panose="020B0604020202020204"/>
              <a:cs typeface="Helvetica Neue Light" panose="020B0604020202020204"/>
              <a:sym typeface="Helvetica Neue Light" panose="020B0604020202020204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428829" y="254000"/>
            <a:ext cx="3221896" cy="215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Alt">
  <p:cSld name="Title &amp; Subtitle Alt">
    <p:bg>
      <p:bgPr>
        <a:solidFill>
          <a:srgbClr val="FFFFFF"/>
        </a:solidFill>
        <a:effectLst/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 rot="10800000" flipH="1">
            <a:off x="406400" y="6140894"/>
            <a:ext cx="12192000" cy="263"/>
          </a:xfrm>
          <a:prstGeom prst="straightConnector1">
            <a:avLst/>
          </a:prstGeom>
          <a:noFill/>
          <a:ln w="381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0" name="Google Shape;30;p5"/>
          <p:cNvSpPr txBox="1"/>
          <p:nvPr>
            <p:ph type="title"/>
          </p:nvPr>
        </p:nvSpPr>
        <p:spPr>
          <a:xfrm>
            <a:off x="406400" y="6426200"/>
            <a:ext cx="12192000" cy="27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4A5DA"/>
              </a:buClr>
              <a:buSzPts val="17000"/>
              <a:buFont typeface="Arial" panose="020B0604020202020204"/>
              <a:buNone/>
              <a:defRPr sz="17000" cap="none">
                <a:solidFill>
                  <a:srgbClr val="34A5D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body" idx="1"/>
          </p:nvPr>
        </p:nvSpPr>
        <p:spPr>
          <a:xfrm>
            <a:off x="406400" y="4267200"/>
            <a:ext cx="12192000" cy="1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>
              <a:lnSpc>
                <a:spcPct val="80000"/>
              </a:lnSpc>
              <a:spcBef>
                <a:spcPts val="2300"/>
              </a:spcBef>
              <a:spcAft>
                <a:spcPts val="0"/>
              </a:spcAft>
              <a:buClr>
                <a:srgbClr val="A6AAA9"/>
              </a:buClr>
              <a:buSzPts val="5400"/>
              <a:buFont typeface="Arial" panose="020B0604020202020204"/>
              <a:buNone/>
              <a:defRPr sz="5400" cap="none">
                <a:solidFill>
                  <a:srgbClr val="A6AAA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12161859" y="419100"/>
            <a:ext cx="4068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600">
              <a:solidFill>
                <a:srgbClr val="FFFFFF"/>
              </a:solidFill>
              <a:latin typeface="Helvetica Neue Light" panose="020B0604020202020204"/>
              <a:ea typeface="Helvetica Neue Light" panose="020B0604020202020204"/>
              <a:cs typeface="Helvetica Neue Light" panose="020B0604020202020204"/>
              <a:sym typeface="Helvetica Neue Light" panose="020B0604020202020204"/>
            </a:endParaRPr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853200" y="8825425"/>
            <a:ext cx="5603202" cy="8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bg>
      <p:bgPr>
        <a:solidFill>
          <a:srgbClr val="222222"/>
        </a:solidFill>
        <a:effectLst/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6"/>
          <p:cNvCxnSpPr/>
          <p:nvPr/>
        </p:nvCxnSpPr>
        <p:spPr>
          <a:xfrm rot="10800000" flipH="1">
            <a:off x="406400" y="993160"/>
            <a:ext cx="12192000" cy="263"/>
          </a:xfrm>
          <a:prstGeom prst="straightConnector1">
            <a:avLst/>
          </a:prstGeom>
          <a:noFill/>
          <a:ln w="254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6" name="Google Shape;36;p6"/>
          <p:cNvSpPr txBox="1"/>
          <p:nvPr>
            <p:ph type="body" idx="1"/>
          </p:nvPr>
        </p:nvSpPr>
        <p:spPr>
          <a:xfrm>
            <a:off x="406400" y="45720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 cap="none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406400" y="1536700"/>
            <a:ext cx="12192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2800"/>
              </a:spcBef>
              <a:spcAft>
                <a:spcPts val="0"/>
              </a:spcAft>
              <a:buClr>
                <a:srgbClr val="34A5DA"/>
              </a:buClr>
              <a:buSzPts val="6000"/>
              <a:buFont typeface="Arial" panose="020B0604020202020204"/>
              <a:buNone/>
              <a:defRPr sz="6000" cap="none">
                <a:solidFill>
                  <a:srgbClr val="34A5D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body" idx="2"/>
          </p:nvPr>
        </p:nvSpPr>
        <p:spPr>
          <a:xfrm>
            <a:off x="406400" y="2743200"/>
            <a:ext cx="12192000" cy="6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455295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34A5DA"/>
              </a:buClr>
              <a:buSzPts val="3570"/>
              <a:buFont typeface="Avenir"/>
              <a:buChar char="▸"/>
              <a:defRPr sz="340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455295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34A5DA"/>
              </a:buClr>
              <a:buSzPts val="3570"/>
              <a:buFont typeface="Avenir"/>
              <a:buChar char="▸"/>
              <a:defRPr sz="340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455295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34A5DA"/>
              </a:buClr>
              <a:buSzPts val="3570"/>
              <a:buFont typeface="Avenir"/>
              <a:buChar char="▸"/>
              <a:defRPr sz="340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455295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34A5DA"/>
              </a:buClr>
              <a:buSzPts val="3570"/>
              <a:buFont typeface="Avenir"/>
              <a:buChar char="▸"/>
              <a:defRPr sz="340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455295" algn="l">
              <a:lnSpc>
                <a:spcPct val="100000"/>
              </a:lnSpc>
              <a:spcBef>
                <a:spcPts val="2800"/>
              </a:spcBef>
              <a:spcAft>
                <a:spcPts val="0"/>
              </a:spcAft>
              <a:buClr>
                <a:srgbClr val="34A5DA"/>
              </a:buClr>
              <a:buSzPts val="3570"/>
              <a:buFont typeface="Avenir"/>
              <a:buChar char="▸"/>
              <a:defRPr sz="3400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12186622" y="431800"/>
            <a:ext cx="40689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600">
              <a:solidFill>
                <a:srgbClr val="FFFFFF"/>
              </a:solidFill>
              <a:latin typeface="Helvetica Neue Light" panose="020B0604020202020204"/>
              <a:ea typeface="Helvetica Neue Light" panose="020B0604020202020204"/>
              <a:cs typeface="Helvetica Neue Light" panose="020B0604020202020204"/>
              <a:sym typeface="Helvetica Neue Light" panose="020B0604020202020204"/>
            </a:endParaRPr>
          </a:p>
        </p:txBody>
      </p:sp>
      <p:pic>
        <p:nvPicPr>
          <p:cNvPr id="40" name="Google Shape;40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700800" y="8901625"/>
            <a:ext cx="5603202" cy="85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&amp; Sub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>
            <p:ph type="pic" idx="2"/>
          </p:nvPr>
        </p:nvSpPr>
        <p:spPr>
          <a:xfrm>
            <a:off x="1619250" y="673100"/>
            <a:ext cx="9758016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type="body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 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>
            <p:ph type="pic" idx="2"/>
          </p:nvPr>
        </p:nvSpPr>
        <p:spPr>
          <a:xfrm>
            <a:off x="6718300" y="638919"/>
            <a:ext cx="5334001" cy="821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 panose="020B0604020202020204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type="body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 panose="020B0604020202020204"/>
              <a:buNone/>
              <a:defRPr sz="3700"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 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 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>
            <p:ph type="pic" idx="2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type="body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 panose="020B0604020202020204"/>
              <a:buChar char="•"/>
              <a:defRPr sz="2800"/>
            </a:lvl1pPr>
            <a:lvl2pPr marL="914400" lvl="1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 panose="020B0604020202020204"/>
              <a:buChar char="•"/>
              <a:defRPr sz="2800"/>
            </a:lvl2pPr>
            <a:lvl3pPr marL="1371600" lvl="2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 panose="020B0604020202020204"/>
              <a:buChar char="•"/>
              <a:defRPr sz="2800"/>
            </a:lvl3pPr>
            <a:lvl4pPr marL="1828800" lvl="3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 panose="020B0604020202020204"/>
              <a:buChar char="•"/>
              <a:defRPr sz="2800"/>
            </a:lvl4pPr>
            <a:lvl5pPr marL="2286000" lvl="4" indent="-48641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4060"/>
              <a:buFont typeface="Helvetica Neue" panose="020B0604020202020204"/>
              <a:buChar char="•"/>
              <a:defRPr sz="2800"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>
            <p:ph type="pic" idx="2"/>
          </p:nvPr>
        </p:nvSpPr>
        <p:spPr>
          <a:xfrm>
            <a:off x="6731000" y="4965700"/>
            <a:ext cx="5334000" cy="38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75" name="Google Shape;75;p15"/>
          <p:cNvSpPr/>
          <p:nvPr>
            <p:ph type="pic" idx="3"/>
          </p:nvPr>
        </p:nvSpPr>
        <p:spPr>
          <a:xfrm>
            <a:off x="6731000" y="635000"/>
            <a:ext cx="5334000" cy="38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76" name="Google Shape;76;p15"/>
          <p:cNvSpPr/>
          <p:nvPr>
            <p:ph type="pic" idx="4"/>
          </p:nvPr>
        </p:nvSpPr>
        <p:spPr>
          <a:xfrm>
            <a:off x="952500" y="635000"/>
            <a:ext cx="53340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77" name="Google Shape;77;p15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body" idx="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 panose="020B0604020202020204"/>
              <a:buNone/>
              <a:defRPr sz="2400" i="1"/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type="body" idx="2"/>
          </p:nvPr>
        </p:nvSpPr>
        <p:spPr>
          <a:xfrm>
            <a:off x="1270000" y="4308599"/>
            <a:ext cx="10464800" cy="60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Helvetica Neue" panose="020B0604020202020204"/>
              <a:buNone/>
              <a:defRPr sz="3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>
            <p:ph type="pic" idx="2"/>
          </p:nvPr>
        </p:nvSpPr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 2">
    <p:bg>
      <p:bgPr>
        <a:solidFill>
          <a:srgbClr val="222222"/>
        </a:solidFill>
        <a:effectLst/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9"/>
          <p:cNvCxnSpPr/>
          <p:nvPr/>
        </p:nvCxnSpPr>
        <p:spPr>
          <a:xfrm rot="10800000" flipH="1">
            <a:off x="406400" y="993160"/>
            <a:ext cx="12192000" cy="263"/>
          </a:xfrm>
          <a:prstGeom prst="straightConnector1">
            <a:avLst/>
          </a:prstGeom>
          <a:noFill/>
          <a:ln w="25400" cap="flat" cmpd="sng">
            <a:solidFill>
              <a:srgbClr val="A6AAA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9" name="Google Shape;89;p19"/>
          <p:cNvSpPr/>
          <p:nvPr/>
        </p:nvSpPr>
        <p:spPr>
          <a:xfrm>
            <a:off x="469900" y="2362200"/>
            <a:ext cx="12065000" cy="522922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24" y="0"/>
                </a:moveTo>
                <a:cubicBezTo>
                  <a:pt x="100" y="0"/>
                  <a:pt x="0" y="232"/>
                  <a:pt x="0" y="516"/>
                </a:cubicBezTo>
                <a:lnTo>
                  <a:pt x="0" y="18789"/>
                </a:lnTo>
                <a:cubicBezTo>
                  <a:pt x="0" y="19073"/>
                  <a:pt x="100" y="19305"/>
                  <a:pt x="224" y="19305"/>
                </a:cubicBezTo>
                <a:lnTo>
                  <a:pt x="17228" y="19305"/>
                </a:lnTo>
                <a:lnTo>
                  <a:pt x="17850" y="21600"/>
                </a:lnTo>
                <a:lnTo>
                  <a:pt x="18471" y="19305"/>
                </a:lnTo>
                <a:lnTo>
                  <a:pt x="21376" y="19305"/>
                </a:lnTo>
                <a:cubicBezTo>
                  <a:pt x="21500" y="19305"/>
                  <a:pt x="21600" y="19073"/>
                  <a:pt x="21600" y="18789"/>
                </a:cubicBezTo>
                <a:lnTo>
                  <a:pt x="21600" y="516"/>
                </a:lnTo>
                <a:cubicBezTo>
                  <a:pt x="21600" y="232"/>
                  <a:pt x="21500" y="0"/>
                  <a:pt x="21376" y="0"/>
                </a:cubicBezTo>
                <a:lnTo>
                  <a:pt x="2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Helvetica Neue" panose="020B0604020202020204"/>
              <a:buNone/>
            </a:pPr>
            <a:endParaRPr sz="2200" b="0" i="0" u="none" strike="noStrike" cap="none">
              <a:solidFill>
                <a:srgbClr val="FFFFFF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90" name="Google Shape;90;p19"/>
          <p:cNvSpPr txBox="1"/>
          <p:nvPr>
            <p:ph type="body" idx="1"/>
          </p:nvPr>
        </p:nvSpPr>
        <p:spPr>
          <a:xfrm>
            <a:off x="889000" y="2908300"/>
            <a:ext cx="11226800" cy="129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00"/>
              <a:buFont typeface="Arial" panose="020B0604020202020204"/>
              <a:buNone/>
              <a:defRPr sz="9400" cap="none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type="body" idx="2"/>
          </p:nvPr>
        </p:nvSpPr>
        <p:spPr>
          <a:xfrm>
            <a:off x="406400" y="7789333"/>
            <a:ext cx="12192000" cy="86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6000"/>
              <a:buFont typeface="Arial" panose="020B0604020202020204"/>
              <a:buNone/>
              <a:defRPr sz="60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type="body" idx="3"/>
          </p:nvPr>
        </p:nvSpPr>
        <p:spPr>
          <a:xfrm>
            <a:off x="406400" y="45720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 cap="none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type="sldNum" idx="12"/>
          </p:nvPr>
        </p:nvSpPr>
        <p:spPr>
          <a:xfrm>
            <a:off x="12186622" y="431800"/>
            <a:ext cx="40689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600">
              <a:solidFill>
                <a:srgbClr val="FFFFFF"/>
              </a:solidFill>
              <a:latin typeface="Helvetica Neue Light" panose="020B0604020202020204"/>
              <a:ea typeface="Helvetica Neue Light" panose="020B0604020202020204"/>
              <a:cs typeface="Helvetica Neue Light" panose="020B0604020202020204"/>
              <a:sym typeface="Helvetica Neue Light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Alt">
  <p:cSld name="Quote Alt">
    <p:bg>
      <p:bgPr>
        <a:solidFill>
          <a:srgbClr val="34A5DA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body" idx="1"/>
          </p:nvPr>
        </p:nvSpPr>
        <p:spPr>
          <a:xfrm>
            <a:off x="5892800" y="2641600"/>
            <a:ext cx="6705600" cy="2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00"/>
              <a:buFont typeface="Arial" panose="020B0604020202020204"/>
              <a:buNone/>
              <a:defRPr sz="9400" cap="none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6" name="Google Shape;96;p20"/>
          <p:cNvSpPr/>
          <p:nvPr>
            <p:ph type="pic" idx="2"/>
          </p:nvPr>
        </p:nvSpPr>
        <p:spPr>
          <a:xfrm>
            <a:off x="0" y="0"/>
            <a:ext cx="5486400" cy="9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type="body" idx="3"/>
          </p:nvPr>
        </p:nvSpPr>
        <p:spPr>
          <a:xfrm>
            <a:off x="5892800" y="7789333"/>
            <a:ext cx="6705600" cy="86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6000"/>
              <a:buFont typeface="Arial" panose="020B0604020202020204"/>
              <a:buNone/>
              <a:defRPr sz="6000">
                <a:solidFill>
                  <a:srgbClr val="23232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type="sldNum" idx="12"/>
          </p:nvPr>
        </p:nvSpPr>
        <p:spPr>
          <a:xfrm>
            <a:off x="12186622" y="431800"/>
            <a:ext cx="40689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2400"/>
              <a:buFont typeface="Arial" panose="020B0604020202020204"/>
              <a:buNone/>
              <a:defRPr sz="2400">
                <a:solidFill>
                  <a:srgbClr val="83878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600">
              <a:solidFill>
                <a:srgbClr val="FFFFFF"/>
              </a:solidFill>
              <a:latin typeface="Helvetica Neue Light" panose="020B0604020202020204"/>
              <a:ea typeface="Helvetica Neue Light" panose="020B0604020202020204"/>
              <a:cs typeface="Helvetica Neue Light" panose="020B0604020202020204"/>
              <a:sym typeface="Helvetica Neue Light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 panose="020B0604020202020204"/>
              <a:buNone/>
              <a:defRPr sz="80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 panose="020B0604020202020204"/>
              <a:buNone/>
              <a:defRPr sz="80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 panose="020B0604020202020204"/>
              <a:buNone/>
              <a:defRPr sz="80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 panose="020B0604020202020204"/>
              <a:buNone/>
              <a:defRPr sz="80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 panose="020B0604020202020204"/>
              <a:buNone/>
              <a:defRPr sz="80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 panose="020B0604020202020204"/>
              <a:buNone/>
              <a:defRPr sz="80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 panose="020B0604020202020204"/>
              <a:buNone/>
              <a:defRPr sz="80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 panose="020B0604020202020204"/>
              <a:buNone/>
              <a:defRPr sz="80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 panose="020B0604020202020204"/>
              <a:buNone/>
              <a:defRPr sz="80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>
            <a:lvl1pPr marL="457200" marR="0" lvl="0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marR="0" lvl="1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marR="0" lvl="2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marR="0" lvl="3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marR="0" lvl="4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marR="0" lvl="5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6pPr>
            <a:lvl7pPr marL="3200400" marR="0" lvl="6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7pPr>
            <a:lvl8pPr marL="3657600" marR="0" lvl="7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8pPr>
            <a:lvl9pPr marL="4114800" marR="0" lvl="8" indent="-52324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4640"/>
              <a:buFont typeface="Helvetica Neue" panose="020B0604020202020204"/>
              <a:buChar char="•"/>
              <a:defRPr sz="3200" b="0" i="0" u="none" strike="noStrike" cap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 Light" panose="020B0604020202020204"/>
              <a:buNone/>
              <a:defRPr sz="1600" b="0" i="0" u="none" strike="noStrike" cap="none">
                <a:solidFill>
                  <a:srgbClr val="FFFFFF"/>
                </a:solidFill>
                <a:latin typeface="Helvetica Neue Light" panose="020B0604020202020204"/>
                <a:ea typeface="Helvetica Neue Light" panose="020B0604020202020204"/>
                <a:cs typeface="Helvetica Neue Light" panose="020B0604020202020204"/>
                <a:sym typeface="Helvetica Neue Light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11.png"/><Relationship Id="rId5" Type="http://schemas.openxmlformats.org/officeDocument/2006/relationships/image" Target="../media/image10.GIF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2"/>
          <p:cNvSpPr txBox="1"/>
          <p:nvPr>
            <p:ph type="title"/>
          </p:nvPr>
        </p:nvSpPr>
        <p:spPr>
          <a:xfrm>
            <a:off x="406400" y="6748780"/>
            <a:ext cx="12192000" cy="27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A1FE"/>
              </a:buClr>
              <a:buSzPts val="17000"/>
              <a:buFont typeface="Arial" panose="020B0604020202020204"/>
              <a:buNone/>
            </a:pPr>
            <a:r>
              <a:rPr lang="en-US" sz="660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 Light" panose="020B0502040204020203" charset="0"/>
                <a:ea typeface="Oswald Regular"/>
                <a:cs typeface="Bahnschrift Light" panose="020B0502040204020203" charset="0"/>
                <a:sym typeface="Oswald Regular"/>
              </a:rPr>
              <a:t>Linguagem C# - Básico</a:t>
            </a:r>
            <a:endParaRPr lang="en-US" sz="6600">
              <a:solidFill>
                <a:srgbClr val="00B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 Light" panose="020B0502040204020203" charset="0"/>
              <a:ea typeface="Oswald Regular"/>
              <a:cs typeface="Bahnschrift Light" panose="020B0502040204020203" charset="0"/>
              <a:sym typeface="Oswald Regular"/>
            </a:endParaRPr>
          </a:p>
        </p:txBody>
      </p:sp>
      <p:sp>
        <p:nvSpPr>
          <p:cNvPr id="296" name="Google Shape;296;p62"/>
          <p:cNvSpPr txBox="1"/>
          <p:nvPr>
            <p:ph type="body" idx="1"/>
          </p:nvPr>
        </p:nvSpPr>
        <p:spPr>
          <a:xfrm>
            <a:off x="406400" y="4267200"/>
            <a:ext cx="12192000" cy="18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6AAA9"/>
              </a:buClr>
              <a:buSzPts val="5000"/>
              <a:buFont typeface="Arial" panose="020B0604020202020204"/>
              <a:buNone/>
            </a:pPr>
            <a:r>
              <a:rPr lang="en-US" sz="5000">
                <a:latin typeface="Oswald Regular"/>
                <a:ea typeface="Oswald Regular"/>
                <a:cs typeface="Oswald Regular"/>
                <a:sym typeface="Oswald Regular"/>
              </a:rPr>
              <a:t>DESENVOLVIMENTO DE APLICATIVOS</a:t>
            </a:r>
            <a:endParaRPr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Linguagem C#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Principais características: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Orientada à objetos;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Influenciada por Java e C++;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Utiliza a plataforma .NET (Framework);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Sintaxe similar ao Java;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Case-sensitive;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IDE utilizada na sala: Visual Studio;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Utilizada em Softwares, Firmwares e </a:t>
            </a:r>
            <a:r>
              <a:rPr lang="en-US" sz="2400" u="sng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Scripts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2" name="Picture Placeholder 1"/>
          <p:cNvSpPr/>
          <p:nvPr>
            <p:ph type="pic" idx="3"/>
          </p:nvPr>
        </p:nvSpPr>
        <p:spPr/>
      </p: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Picture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870825" y="3076575"/>
            <a:ext cx="3441065" cy="34410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Linguagem C#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Integrated Development Environment (IDE)</a:t>
            </a:r>
            <a:endParaRPr lang="en-US" sz="3200" b="1">
              <a:solidFill>
                <a:schemeClr val="accent6">
                  <a:lumMod val="60000"/>
                  <a:lumOff val="40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b="1">
              <a:solidFill>
                <a:schemeClr val="accent6">
                  <a:lumMod val="60000"/>
                  <a:lumOff val="40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 IDE serve para construir um projeto de software, traduzindo o código-fonte em várias etapas até a linguagem de máquina e um executável.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Também fornece suporte durante o desenvolvimento com plugins e add-ons (exemplo: Intellisense, Debugging, Corretores etc.)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Linguagem C#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Integrated Development Environment (IDE)</a:t>
            </a:r>
            <a:endParaRPr lang="en-US" sz="3200" b="1">
              <a:solidFill>
                <a:schemeClr val="accent6">
                  <a:lumMod val="60000"/>
                  <a:lumOff val="40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b="1">
              <a:solidFill>
                <a:schemeClr val="accent6">
                  <a:lumMod val="60000"/>
                  <a:lumOff val="40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Picture 113"/>
          <p:cNvPicPr/>
          <p:nvPr/>
        </p:nvPicPr>
        <p:blipFill>
          <a:blip r:embed="rId2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Picture 114"/>
          <p:cNvPicPr/>
          <p:nvPr/>
        </p:nvPicPr>
        <p:blipFill>
          <a:blip r:embed="rId2"/>
          <a:stretch>
            <a:fillRect/>
          </a:stretch>
        </p:blipFill>
        <p:spPr>
          <a:xfrm>
            <a:off x="1029970" y="4516755"/>
            <a:ext cx="10728960" cy="4013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Linguagem C#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Visual Studio / VS Code:</a:t>
            </a:r>
            <a:endParaRPr lang="en-US" sz="3200" b="1">
              <a:solidFill>
                <a:schemeClr val="accent6">
                  <a:lumMod val="60000"/>
                  <a:lumOff val="40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b="1">
              <a:solidFill>
                <a:schemeClr val="accent6">
                  <a:lumMod val="60000"/>
                  <a:lumOff val="40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2" name="Picture Placeholder 1"/>
          <p:cNvSpPr/>
          <p:nvPr>
            <p:ph type="pic" idx="3"/>
          </p:nvPr>
        </p:nvSpPr>
        <p:spPr/>
      </p: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Picture 113"/>
          <p:cNvPicPr/>
          <p:nvPr/>
        </p:nvPicPr>
        <p:blipFill>
          <a:blip r:embed="rId2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" name="Picture 115"/>
          <p:cNvPicPr/>
          <p:nvPr/>
        </p:nvPicPr>
        <p:blipFill>
          <a:blip r:embed="rId3"/>
          <a:stretch>
            <a:fillRect/>
          </a:stretch>
        </p:blipFill>
        <p:spPr>
          <a:xfrm>
            <a:off x="2216150" y="3940493"/>
            <a:ext cx="8572500" cy="4638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Picture 117"/>
          <p:cNvPicPr/>
          <p:nvPr/>
        </p:nvPicPr>
        <p:blipFill>
          <a:blip r:embed="rId3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Linguagem C#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Onde utilizaremos: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" name="Diagram 3"/>
          <p:cNvGraphicFramePr/>
          <p:nvPr/>
        </p:nvGraphicFramePr>
        <p:xfrm>
          <a:off x="2438400" y="21672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Linguagem C#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01725" y="2358390"/>
            <a:ext cx="10954385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800" b="1">
                <a:solidFill>
                  <a:schemeClr val="accent3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Console Apps:</a:t>
            </a:r>
            <a:endParaRPr lang="en-US" sz="2400">
              <a:solidFill>
                <a:schemeClr val="accent3">
                  <a:lumMod val="60000"/>
                  <a:lumOff val="40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Aplicações textuais. Podem ser bem complexas apesar da falta de ‘UI’, contendo o mesmo ou maior nível de interação com o usuário. Dependem da classe ‘Console’ e dos métodos </a:t>
            </a:r>
            <a:r>
              <a:rPr lang="en-US" sz="2000">
                <a:solidFill>
                  <a:schemeClr val="accent2">
                    <a:lumMod val="40000"/>
                    <a:lumOff val="6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Write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, </a:t>
            </a:r>
            <a:r>
              <a:rPr lang="en-US" sz="2000">
                <a:solidFill>
                  <a:schemeClr val="accent2">
                    <a:lumMod val="40000"/>
                    <a:lumOff val="6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WriteLine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, </a:t>
            </a:r>
            <a:r>
              <a:rPr lang="en-US" sz="20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Read 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 </a:t>
            </a:r>
            <a:r>
              <a:rPr lang="en-US" sz="20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ReadLine 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para interação.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Picture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Picture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2470150" y="4876800"/>
            <a:ext cx="7764145" cy="4060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Linguagem C#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284730"/>
            <a:ext cx="1095438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accent3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Forms Apps: 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Aplicações gráficas, geralmente utilizadas em Desktop. Seu desenvolvimento já é mais direcionado à componentes (botões, caixas de texto, menu) e seus eventos (clique de botão, mouse sobre o menu, imagem carregada etc).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Picture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Picture 103"/>
          <p:cNvPicPr/>
          <p:nvPr/>
        </p:nvPicPr>
        <p:blipFill>
          <a:blip r:embed="rId3"/>
          <a:stretch>
            <a:fillRect/>
          </a:stretch>
        </p:blipFill>
        <p:spPr>
          <a:xfrm>
            <a:off x="1317625" y="5236528"/>
            <a:ext cx="2209800" cy="3095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Picture 104"/>
          <p:cNvPicPr/>
          <p:nvPr/>
        </p:nvPicPr>
        <p:blipFill>
          <a:blip r:embed="rId4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Picture 105"/>
          <p:cNvPicPr/>
          <p:nvPr/>
        </p:nvPicPr>
        <p:blipFill>
          <a:blip r:embed="rId4"/>
          <a:stretch>
            <a:fillRect/>
          </a:stretch>
        </p:blipFill>
        <p:spPr>
          <a:xfrm>
            <a:off x="4342130" y="5308600"/>
            <a:ext cx="7712075" cy="36277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Linguagem C#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284730"/>
            <a:ext cx="109543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unity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Toda programação de um jogo é feita via Scripts. Códigos executados sequencialmente e individualmente, embora possam ser organizados para executar em ‘loop’, como a função Update( ).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Picture 101"/>
          <p:cNvPicPr/>
          <p:nvPr/>
        </p:nvPicPr>
        <p:blipFill>
          <a:blip r:embed="rId2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Picture 104"/>
          <p:cNvPicPr/>
          <p:nvPr/>
        </p:nvPicPr>
        <p:blipFill>
          <a:blip r:embed="rId3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Picture 107"/>
          <p:cNvPicPr/>
          <p:nvPr/>
        </p:nvPicPr>
        <p:blipFill>
          <a:blip r:embed="rId4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Picture 109"/>
          <p:cNvPicPr/>
          <p:nvPr/>
        </p:nvPicPr>
        <p:blipFill>
          <a:blip r:embed="rId5"/>
          <a:stretch>
            <a:fillRect/>
          </a:stretch>
        </p:blipFill>
        <p:spPr>
          <a:xfrm>
            <a:off x="6502400" y="4876800"/>
            <a:ext cx="0" cy="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Picture 110"/>
          <p:cNvPicPr/>
          <p:nvPr/>
        </p:nvPicPr>
        <p:blipFill>
          <a:blip r:embed="rId5"/>
          <a:stretch>
            <a:fillRect/>
          </a:stretch>
        </p:blipFill>
        <p:spPr>
          <a:xfrm>
            <a:off x="1317625" y="5236845"/>
            <a:ext cx="3829050" cy="2647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Picture 112"/>
          <p:cNvPicPr/>
          <p:nvPr/>
        </p:nvPicPr>
        <p:blipFill>
          <a:blip r:embed="rId6"/>
          <a:srcRect b="16138"/>
          <a:stretch>
            <a:fillRect/>
          </a:stretch>
        </p:blipFill>
        <p:spPr>
          <a:xfrm>
            <a:off x="6142355" y="4372610"/>
            <a:ext cx="6075680" cy="46628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Variáveis e Constantes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 linguagem C# possui tipos de variáveis e constantes herdados da linguagem C e C++, que podem conter modificadores de acesso.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As variáveis são divididas em </a:t>
            </a:r>
            <a:r>
              <a:rPr lang="en-US" sz="2400">
                <a:solidFill>
                  <a:schemeClr val="accent2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Value Types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e </a:t>
            </a:r>
            <a:r>
              <a:rPr 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Reference Types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As constantes são valores imutáveis que podem ser referenciados ao longo do código dependendo de seus modificadores de acesso.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Variáveis - Value Types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6739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As variáveis Value Types são responsáveis por armazenar valores. Na tabela a seguir temos todos os tipos de variáveis numéricas Value Type do C#: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Além dos tipos numéricos, temos também o tipo </a:t>
            </a:r>
            <a:r>
              <a:rPr lang="en-US" sz="2400" u="sng">
                <a:solidFill>
                  <a:schemeClr val="accent2">
                    <a:lumMod val="40000"/>
                    <a:lumOff val="6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bool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, ao qual pode ser atribuído </a:t>
            </a:r>
            <a:r>
              <a:rPr lang="en-US" sz="2400">
                <a:solidFill>
                  <a:schemeClr val="accent2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true/false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2" name="Picture Placeholder 1"/>
          <p:cNvPicPr>
            <a:picLocks noChangeAspect="1"/>
          </p:cNvPicPr>
          <p:nvPr>
            <p:ph type="pic" idx="3"/>
          </p:nvPr>
        </p:nvPicPr>
        <p:blipFill>
          <a:blip r:embed="rId1"/>
          <a:stretch>
            <a:fillRect/>
          </a:stretch>
        </p:blipFill>
        <p:spPr>
          <a:xfrm>
            <a:off x="3328035" y="3944620"/>
            <a:ext cx="6348095" cy="37064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9321165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 b="1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Estruturas de Decisão e Repetição</a:t>
            </a:r>
            <a:endParaRPr lang="en-US" sz="4400" b="1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Por ser uma linguagem derivada do C, as estruturas de decisão e repetição já são bem conhecidas.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accent4"/>
                </a:solidFill>
                <a:latin typeface="Bahnschrift" panose="020B0502040204020203" charset="0"/>
                <a:cs typeface="Bahnschrift" panose="020B0502040204020203" charset="0"/>
              </a:rPr>
              <a:t>if/else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estrutura para teste </a:t>
            </a:r>
            <a:r>
              <a:rPr lang="en-US" sz="2400" u="sng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binário 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de uma condição, seu resultado é sempre true ou false.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accent4"/>
                </a:solidFill>
                <a:latin typeface="Bahnschrift" panose="020B0502040204020203" charset="0"/>
                <a:cs typeface="Bahnschrift" panose="020B0502040204020203" charset="0"/>
              </a:rPr>
              <a:t>for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estrutura para repetição </a:t>
            </a:r>
            <a:r>
              <a:rPr lang="en-US" sz="2400" u="sng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definida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 Pode-se definir um valor inicial e um valor final para a repetição do código interno.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accent4"/>
                </a:solidFill>
                <a:latin typeface="Bahnschrift" panose="020B0502040204020203" charset="0"/>
                <a:cs typeface="Bahnschrift" panose="020B0502040204020203" charset="0"/>
              </a:rPr>
              <a:t>while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: estrutura para repetição </a:t>
            </a:r>
            <a:r>
              <a:rPr lang="en-US" sz="2400" u="sng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indefinida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 Define-se uma condição de saída do while e o código interno é repetido 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enquanto essa condição for true.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Aplicações Console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Aplicações Console são conhecidas pela agilidade de desenvolvimento e objetividade da solução. Não dispõe de uma interface gráfica avançada.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Possui um foco maior em </a:t>
            </a:r>
            <a:r>
              <a:rPr lang="en-US" sz="2400">
                <a:solidFill>
                  <a:srgbClr val="00B050"/>
                </a:solidFill>
                <a:latin typeface="Bahnschrift" panose="020B0502040204020203" charset="0"/>
                <a:cs typeface="Bahnschrift" panose="020B0502040204020203" charset="0"/>
              </a:rPr>
              <a:t>entrada 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 </a:t>
            </a:r>
            <a:r>
              <a:rPr lang="en-US" sz="2400">
                <a:solidFill>
                  <a:srgbClr val="00B050"/>
                </a:solidFill>
                <a:latin typeface="Bahnschrift" panose="020B0502040204020203" charset="0"/>
                <a:cs typeface="Bahnschrift" panose="020B0502040204020203" charset="0"/>
              </a:rPr>
              <a:t>saída 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de dados.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2" name="Picture Placeholder 1"/>
          <p:cNvPicPr>
            <a:picLocks noChangeAspect="1"/>
          </p:cNvPicPr>
          <p:nvPr>
            <p:ph type="pic" idx="3"/>
          </p:nvPr>
        </p:nvPicPr>
        <p:blipFill>
          <a:blip r:embed="rId1"/>
          <a:stretch>
            <a:fillRect/>
          </a:stretch>
        </p:blipFill>
        <p:spPr>
          <a:xfrm>
            <a:off x="1605915" y="4300220"/>
            <a:ext cx="9221470" cy="31451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Aplicações Console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Em C# podemos escrever e ler dados por meio do objeto Console: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B050"/>
                </a:solidFill>
                <a:latin typeface="Bahnschrift" panose="020B0502040204020203" charset="0"/>
                <a:cs typeface="Bahnschrift" panose="020B0502040204020203" charset="0"/>
              </a:rPr>
              <a:t>Console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r>
              <a:rPr lang="en-US" sz="2400" b="1">
                <a:solidFill>
                  <a:schemeClr val="accent4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Read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( );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- 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Lê um byte na entrada do console e retorna como int;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B050"/>
                </a:solidFill>
                <a:latin typeface="Bahnschrift" panose="020B0502040204020203" charset="0"/>
                <a:cs typeface="Bahnschrift" panose="020B0502040204020203" charset="0"/>
              </a:rPr>
              <a:t>Console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r>
              <a:rPr lang="en-US" sz="2400" b="1">
                <a:solidFill>
                  <a:schemeClr val="accent4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ReadLine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( );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- 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Lê a próxima linha digitada no console (Espera um ENTER);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B050"/>
                </a:solidFill>
                <a:latin typeface="Bahnschrift" panose="020B0502040204020203" charset="0"/>
                <a:cs typeface="Bahnschrift" panose="020B0502040204020203" charset="0"/>
              </a:rPr>
              <a:t>Console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r>
              <a:rPr lang="en-US" sz="2400" b="1">
                <a:solidFill>
                  <a:schemeClr val="accent4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Write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( );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- 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Escreve uma string na posição atual do cursor;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B050"/>
                </a:solidFill>
                <a:latin typeface="Bahnschrift" panose="020B0502040204020203" charset="0"/>
                <a:cs typeface="Bahnschrift" panose="020B0502040204020203" charset="0"/>
              </a:rPr>
              <a:t>Console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r>
              <a:rPr lang="en-US" sz="2400" b="1">
                <a:solidFill>
                  <a:schemeClr val="accent4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WriteLine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( ); 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- 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Escreve uma string como uma linha (Adiciona um ENTER);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B050"/>
                </a:solidFill>
                <a:latin typeface="Bahnschrift" panose="020B0502040204020203" charset="0"/>
                <a:cs typeface="Bahnschrift" panose="020B0502040204020203" charset="0"/>
              </a:rPr>
              <a:t>Console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.</a:t>
            </a:r>
            <a:r>
              <a:rPr lang="en-US" sz="2400" b="1">
                <a:solidFill>
                  <a:schemeClr val="accent4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Clear</a:t>
            </a:r>
            <a:r>
              <a:rPr lang="en-US" sz="24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( );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- 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Limpa o Console e os buffers de entrada.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5" name="Picture Placeholder 4"/>
          <p:cNvPicPr>
            <a:picLocks noChangeAspect="1"/>
          </p:cNvPicPr>
          <p:nvPr>
            <p:ph type="pic" idx="3"/>
          </p:nvPr>
        </p:nvPicPr>
        <p:blipFill>
          <a:blip r:embed="rId1"/>
          <a:stretch>
            <a:fillRect/>
          </a:stretch>
        </p:blipFill>
        <p:spPr>
          <a:xfrm>
            <a:off x="5422265" y="7037070"/>
            <a:ext cx="4371975" cy="17716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333750" y="7324725"/>
            <a:ext cx="6960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Exemplo: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711073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Conversões de Tipo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Muitas vezes precisamos converter tipos de dados para adequar nosso programa. Em C# podemos utilizar a classe Convert: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Neste exemplo, sabemos que o método ReadLine do objeto Console retorna uma string. O método ToInt32 da classe Convert faz a conversão deste valor para armazená-lo na variável opcao. Abaixo um exemplo de um cenário inverso: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pic>
        <p:nvPicPr>
          <p:cNvPr id="2" name="Picture Placeholder 1"/>
          <p:cNvPicPr>
            <a:picLocks noChangeAspect="1"/>
          </p:cNvPicPr>
          <p:nvPr>
            <p:ph type="pic" idx="3"/>
          </p:nvPr>
        </p:nvPicPr>
        <p:blipFill>
          <a:blip r:embed="rId1"/>
          <a:stretch>
            <a:fillRect/>
          </a:stretch>
        </p:blipFill>
        <p:spPr>
          <a:xfrm>
            <a:off x="1605915" y="4084320"/>
            <a:ext cx="9147175" cy="8477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985" y="8082915"/>
            <a:ext cx="9850755" cy="5822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1166495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Exercícios - Em dupla - Mostrar em sala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73393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1)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Qual a importância e utilidade de uma IDE?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2)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Qual a principal característica de um projeto do tipo Console? É possível executar um programa Console em um computador sem mouse? Explique.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3)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Em sua opinião, qual seria uma vantagem em desenvolver um programa Console ao invés de um programa Forms?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4)</a:t>
            </a:r>
            <a:r>
              <a:rPr lang="en-US" sz="24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Qual tipo de variável é mais indicada para armazenar os seguintes valores:</a:t>
            </a: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a) 188</a:t>
            </a:r>
            <a:endParaRPr lang="en-US" sz="1800" b="1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b) “Palmeiras”</a:t>
            </a:r>
            <a:endParaRPr lang="en-US" sz="1800" b="1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c) true/false</a:t>
            </a:r>
            <a:endParaRPr lang="en-US" sz="1800" b="1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d) Uma lista de valores numéricos</a:t>
            </a:r>
            <a:endParaRPr lang="en-US" sz="1800" b="1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e) 8.000.000.000,00</a:t>
            </a:r>
            <a:endParaRPr lang="en-US" sz="1800" b="1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f) 87,5</a:t>
            </a:r>
            <a:endParaRPr lang="en-US" sz="1800" b="1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g) 87,5675</a:t>
            </a:r>
            <a:endParaRPr lang="en-US" sz="1800" b="1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"/>
          <p:cNvSpPr txBox="1"/>
          <p:nvPr>
            <p:ph type="body" idx="4294967295"/>
          </p:nvPr>
        </p:nvSpPr>
        <p:spPr>
          <a:xfrm>
            <a:off x="525780" y="483870"/>
            <a:ext cx="1117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/>
              <a:buNone/>
            </a:pPr>
            <a:r>
              <a:rPr lang="en-US" sz="2400" cap="none">
                <a:solidFill>
                  <a:srgbClr val="838787"/>
                </a:solidFill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DESENVOLVIMENTO DE APLICATIVOS </a:t>
            </a:r>
            <a:endParaRPr lang="en-US" sz="2400" cap="none">
              <a:solidFill>
                <a:srgbClr val="838787"/>
              </a:solidFill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466" name="Google Shape;466;p75"/>
          <p:cNvSpPr txBox="1"/>
          <p:nvPr>
            <p:ph type="body" idx="4294967295"/>
          </p:nvPr>
        </p:nvSpPr>
        <p:spPr>
          <a:xfrm>
            <a:off x="597535" y="1276350"/>
            <a:ext cx="954278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venir"/>
              <a:buNone/>
            </a:pPr>
            <a:r>
              <a:rPr lang="en-US" sz="4400">
                <a:solidFill>
                  <a:schemeClr val="accent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charset="0"/>
                <a:ea typeface="Oswald Regular"/>
                <a:cs typeface="Bahnschrift" panose="020B0502040204020203" charset="0"/>
                <a:sym typeface="Oswald Regular"/>
              </a:rPr>
              <a:t>Exercícios - Em dupla - Entregar</a:t>
            </a:r>
            <a:endParaRPr lang="en-US" sz="4400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charset="0"/>
              <a:ea typeface="Oswald Regular"/>
              <a:cs typeface="Bahnschrift" panose="020B0502040204020203" charset="0"/>
              <a:sym typeface="Oswald Regula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85825" y="2428240"/>
            <a:ext cx="10954385" cy="7477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5)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 Desenvolva um programa em C# que leia e depois apresente na saída o nome dos dois integrantes da dupla. Em uma nova linha, apresente a frase: “Turma 34DS - 2024”.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6)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 Desenvolva um programa em C# que leia um valor inteiro e retorne se este número é ou não um número primo.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7)</a:t>
            </a: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 Desenvolva um programa em C# que escreva na tela um menu com 3 opções de cor, e dependendo da entrada do usuário (valor inteiro) altere a cor da janela do console.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8) (DESAFIO) </a:t>
            </a:r>
            <a:r>
              <a:rPr lang="en-US" sz="2000" b="1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Desenvolva um programa em C# que leia os dados de um usuário (Nome, Cidade e ano de nascimento) e armazene em um arquivo .txt. Os dados armazenados têm que ser criptografados (Pesquisar sobre ‘hash’).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e-mail: daniel.albino@etefmc.com.br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1"/>
                </a:solidFill>
                <a:latin typeface="Bahnschrift" panose="020B0502040204020203" charset="0"/>
                <a:cs typeface="Bahnschrift" panose="020B0502040204020203" charset="0"/>
              </a:rPr>
              <a:t>Assunto: [DAPL] Exercício 01 - Nome1_Nome2</a:t>
            </a:r>
            <a:endParaRPr lang="en-US" sz="2000">
              <a:solidFill>
                <a:schemeClr val="bg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000">
              <a:solidFill>
                <a:schemeClr val="bg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5279</Words>
  <Application>WPS Presentation</Application>
  <PresentationFormat/>
  <Paragraphs>189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Arial</vt:lpstr>
      <vt:lpstr>Helvetica Neue</vt:lpstr>
      <vt:lpstr>Helvetica Neue Light</vt:lpstr>
      <vt:lpstr>Avenir</vt:lpstr>
      <vt:lpstr>Segoe Print</vt:lpstr>
      <vt:lpstr>Bahnschrift Light</vt:lpstr>
      <vt:lpstr>Oswald Regular</vt:lpstr>
      <vt:lpstr>Bahnschrift</vt:lpstr>
      <vt:lpstr>Microsoft YaHei</vt:lpstr>
      <vt:lpstr>Arial Unicode MS</vt:lpstr>
      <vt:lpstr>Courier New</vt:lpstr>
      <vt:lpstr>Black</vt:lpstr>
      <vt:lpstr>Linguagem C# - Introdução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</dc:title>
  <dc:creator/>
  <cp:lastModifiedBy>danie</cp:lastModifiedBy>
  <cp:revision>206</cp:revision>
  <dcterms:created xsi:type="dcterms:W3CDTF">2021-02-10T23:56:00Z</dcterms:created>
  <dcterms:modified xsi:type="dcterms:W3CDTF">2024-02-16T12:55:48Z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1033-12.2.0.13431</vt:lpwstr>
  </property>
  <property fmtid="{D5CDD505-2E9C-101B-9397-08002B2CF9AE}" pid="3" name="ICV">
    <vt:lpwstr>436474447E4A419E86B8DBCBD83DC5AD</vt:lpwstr>
  </property>
</Properties>
</file>